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3818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apsusc.2013.09.040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00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Hydrophobicity Generation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Oxide Substrates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2057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Literature Review on SrTiO₃, MgO, and Al₂O₃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3200400"/>
            <a:ext cx="2606040" cy="12801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320040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SrTiO₃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91840" y="3200400"/>
            <a:ext cx="2606040" cy="12801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320040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MgO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080760" y="3200400"/>
            <a:ext cx="2606040" cy="12801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320040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Al₂O₃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01168" y="5029200"/>
            <a:ext cx="8942832" cy="5486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SrTiO₃ (Strontium Titanate) — What is Reported in Literature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Perovskite oxide used as substrate for thin film deposition. Intrinsically hydrophilic due to high surface energy.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73152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4241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Ti:Sapphire Laser + Sol-Gel → STO Nanoparticle Synthesis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Energy: 20.3 kJ/m² and 240 mJ/cm²  ·  Focus: crystallisation improvement, NOT wettability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pulses improve crystallinity of STO nanoparticles. Hydrophobicity not addressed.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https://doi.org/10.1016/j.jmst.2020.07.024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993392"/>
            <a:ext cx="859536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993392"/>
            <a:ext cx="73152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2996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Picosecond Laser Grooving → Super-Hydrophilicity on STO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226771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Material: Single-crystal SrTiO₃  ·  Method: Picosecond laser grooving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4505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WCA → ~0° (super-hydrophilic). Wettability goes in the OPPOSITE direction.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63347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semanticscholar.org/paper/58f239f375d79c876c39adc19faab83b124ab1ce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980944"/>
            <a:ext cx="859536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80944"/>
            <a:ext cx="73152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1752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 Self-Assembled Monolayer on SrTiO₃ → Hydrophobic Film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325526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Octadecyltrichlorosilane (OTS) SAM, dip-coating  ·  CA &gt; 110° achieved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343814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laser-based — chemical self-assembly. OTS film ~2.4 nm thick.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362102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10.1016/S0040-6090(98)00625-7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982564"/>
            <a:ext cx="859536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4" name="Shape 22"/>
          <p:cNvSpPr/>
          <p:nvPr/>
        </p:nvSpPr>
        <p:spPr>
          <a:xfrm>
            <a:off x="274320" y="3968496"/>
            <a:ext cx="73152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0507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Femtosecond Laser LIPSS on SrTiO₃ — Structural Study Only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424281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laser irradiation on single-crystalline STO — LIPSS nanostructure formation studied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42569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2D→1D LIPSS transition with pulse number. Wettability NOT reported.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60857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chemeClr val="accent3"/>
                </a:solidFill>
              </a:rPr>
              <a:t>DOI: https://doi.org/10.1002/adom.202502761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SrTiO₃ — Summary of Wettability Literature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676656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31520"/>
            <a:ext cx="73152" cy="6766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8638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Nature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SrTiO₃ is naturally superhydrophilic. DFT and STM studies confirm strong water–surface interaction on (001) and (110) facets.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517904"/>
            <a:ext cx="8595360" cy="676656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17904"/>
            <a:ext cx="73152" cy="6766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727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Work: Synthesis-Focused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179222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Ti:Sapphire and picosecond laser studies target crystallisation improvement and nanoparticle synthesis — not hydrophobicity.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304288"/>
            <a:ext cx="8595360" cy="676656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04288"/>
            <a:ext cx="73152" cy="6766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5915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Grooving → Hydrophilicity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257860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Picosecond laser grooving on single-crystal STO enhances super-hydrophilicity (WCA → 0°) — opposite of what is needed.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090672"/>
            <a:ext cx="8595360" cy="676656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090672"/>
            <a:ext cx="73152" cy="6766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4553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SAM Route (OTS) — Hydrophobic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3364992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 monolayer on STO achieves CA &gt; 110°. However, this is dip-coating, not laser-based. (Thin Solid Films, 1998)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877056"/>
            <a:ext cx="8595360" cy="676656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877056"/>
            <a:ext cx="73152" cy="6766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319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LIPSS Study — Structure Only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151376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laser LIPSS on SrTiO₃ studied for structural/electrodynamic properties only — wettability not reported.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Laser-induced hydrophobicity on SrTiO₃ has NOT been reported. Existing laser work yields hydrophilicity.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Al₂O₃ (Alumina) — What is Reported in Literature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ceramic oxide. Initial WCA ~115°. Extensive laser hydrophobicity literature exists on this material.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73152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4241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Picosecond UV Laser (6.7 ps) → Superhydrophobic Al₂O₃ — Single-Step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Energy: 2.82 J/cm²  ·  Micropillars and microholes (100–1200 pulses/unit area)  ·  No chemical post-treatment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Superhydrophobic surface. Geometry is key driver, not chemical composition.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10.1021/la5033527  [ACS Langmuir, 2014]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993392"/>
            <a:ext cx="859536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993392"/>
            <a:ext cx="73152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2996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Nanosecond Fiber Laser (1064 nm, 50 ns) → Hydrophobicity + Improved Tribology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226771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Ytterbium fiber laser on Al₂O₃  ·  Varying fluence and hatch parameters . %0.93 J/cm2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4505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Significantly improved hydrophobicity and friction stability. XPS confirmed wettability mechanism.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63347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10.1364/AO.423564  [Applied Optics, 2021]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980944"/>
            <a:ext cx="859536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80944"/>
            <a:ext cx="73152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1752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Laser + N₂ Gas Assist → Hydrophobicity via AlN/AlON Compounds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325526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(2 kW), N₂+O₂ assist at 600 kPa  ·  Alumina tiles 4 mm thick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343814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Micro/nano pillars + AlN/AlON compounds increase hardness ~50% and enhance hydrophobicity.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362102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</a:t>
            </a: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https://doi.org/10.1016/j.apsusc.2013.09.040</a:t>
            </a: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968496"/>
            <a:ext cx="859536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968496"/>
            <a:ext cx="73152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0507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Femtosecond Laser → Super-Hydrophilic Al₂O₃ (Persistent, &gt;40 days)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424281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Triangular groove patterns, depths 3.2–17.1 µm  ·  Deeper grooves: θ &lt; 5° for &gt;40 days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42569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anneal (120°C) gives transient CA ~148.9°, decays to ~90° within 6 weeks.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60857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10.3390/mi17010029  [Micromachines, 2026]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Al₂O₃ — Summary of Wettability Literature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676656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31520"/>
            <a:ext cx="73152" cy="6766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8638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Superhydrophobicity: Confirmed via Picosecond Laser (Single-Step)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ps laser (6.7 ps) — micropillars and microholes produce superhydrophobic surfaces in one step. Geometry dominates over chemistry.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517904"/>
            <a:ext cx="8595360" cy="676656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17904"/>
            <a:ext cx="73152" cy="6766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727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Hydrophobicity: Confirmed via Nanosecond Fiber Laser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179222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Ytterbium fiber laser (1064 nm, 50 ns) texturing improves hydrophobicity and tribological performance of Al₂O₃ ceramic.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304288"/>
            <a:ext cx="8595360" cy="676656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04288"/>
            <a:ext cx="73152" cy="6766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5915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Hydrophobicity with Nitrogen Gas Assist: CO₂ Laser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257860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laser + N₂ gas creates AlN/AlON compounds alongside micro/nano pillars — texture and chemistry both contribute.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090672"/>
            <a:ext cx="8595360" cy="676656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090672"/>
            <a:ext cx="73152" cy="6766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4553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Femtosecond Laser → Hydrophilicity (Opposite Direction)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3364992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grooves give persistent superhydrophilicity (θ &lt; 5°). Thermal annealing gives transient hydrophobicity (~148.9°) that decays to ~90° within 6 weeks.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877056"/>
            <a:ext cx="8595360" cy="676656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877056"/>
            <a:ext cx="73152" cy="6766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319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Silanization After Laser Texturing → Superhydrophobicity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151376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Al₂O₃ texturing + fluorosilane coating reliably gives superhydrophobic surfaces. Multiple sources confirm this combined approach.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Al₂O₃ is extensively studied for laser hydrophobicity — NOT a novel research target.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MgO (Magnesium Oxide) — What is Reported in Literature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Alkaline metal oxide. Intrinsically hydrophilic in bulk; MgO crystal surfaces show unusual molecular-level hydrophobic character.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73152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4241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Nano-Magnesia in Cotton Fabric → Superhydrophobicity (Chemical, Not Laser)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Material: Cotton fabric + MgO nanoparticles  ·  Method: Chemical surface modification only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Nano-magnesia gives superhydrophobicity to fabric. No laser involved.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https://doi.org/10.1080/00405000.2023.2258047  [Textile Research Journal, 2023]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993392"/>
            <a:ext cx="859536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2" name="Shape 10"/>
          <p:cNvSpPr/>
          <p:nvPr/>
        </p:nvSpPr>
        <p:spPr>
          <a:xfrm>
            <a:off x="274320" y="1993392"/>
            <a:ext cx="73152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2996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Nanosecond Laser on Mg Alloy → MgO Nanoparticle-Decorated Superhydrophobic Surface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226771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Material: Mg alloy (MA8)  ·  Laser → MgO nanoparticles on surface  ·  Then: fluorosilane CVD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4505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roughness + MgO nanoparticles; wettability: superhydrophilic → superhydrophobic.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63347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https://doi.org/10.3390/ma14185454 [Materials, 2021]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980944"/>
            <a:ext cx="859536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80944"/>
            <a:ext cx="73152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1752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Nanosecond Laser on Mg → MgO Layer Morphology (Corrosion Study)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325526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Mg  ·  ns laser in N₂ and CO₂ atmospheres  ·  Focus: degradation behaviour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343814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roughness MgO gives better corrosion resistance. CA studied as secondary parameter.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362102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https://doi.org/10.1016/j.vacuum.2023.111913 [Vacuum, 2023]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968496"/>
            <a:ext cx="859536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968496"/>
            <a:ext cx="73152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0507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Dynamics + vSFG: MgO Crystal Shows Molecular Hydrophobicity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424281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MgO(100) and MgO(111)  ·  vSFG spectroscopy + contact angle  ·  J. Phys. Chem. C, 2021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42569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44855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https://pubs.acs.org/doi/10.1021/acs.jpcc.1c06486?ref=pdf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MgO — Summary of Wettability Literature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676656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31520"/>
            <a:ext cx="73152" cy="6766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8638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Laser-Induced Hydrophobicity on MgO Bulk Crystal Reported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work found on laser-based hydrophobicity generation on MgO as primary substrate. Existing work uses MgO as a by-product of Mg alloy processing or as a nanoparticle modifier.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517904"/>
            <a:ext cx="8595360" cy="676656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17904"/>
            <a:ext cx="73152" cy="6766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727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Nano-MgO as Surface Modifier (Chemical Route)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179222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Nano-magnesia nanoparticles give hydrophobicity to cotton via chemical modification — NOT laser texturing of MgO itself. (Textile Research Journal, 2023)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304288"/>
            <a:ext cx="8595360" cy="676656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04288"/>
            <a:ext cx="73152" cy="6766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5915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MgO Forms as Laser By-Product on Mg Alloys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257860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Laser-processed Mg alloys produce MgO nanoparticles on the surface. These can be rendered hydrophobic via fluorosilane CVD. Substrate is Mg alloy, not MgO crystal.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090672"/>
            <a:ext cx="8595360" cy="676656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090672"/>
            <a:ext cx="73152" cy="6766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4553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MgO Crystal: Molecular-Level Hydrophobicity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3364992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vSFG spectroscopy shows MgO(100) and MgO(111) display non-H-bonded OH modes — unusual molecular-scale hydrophobicity distinct from other metal oxides.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877056"/>
            <a:ext cx="8595360" cy="676656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877056"/>
            <a:ext cx="73152" cy="6766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319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Modification (hfacH) Confirms Tuneable Surface Energy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151376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MgO modified with hexafluoroacetylacetone (hfacH) shows shifts in hydrophobicity, confirming the surface energy is tunable — but laser work is absent.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Laser-induced hydrophobicity on MgO bulk crystal has NOT been reported — a potential novel research direction.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Summary: SrTiO₃ vs Al₂O₃ vs MgO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057400" cy="3840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" y="685800"/>
            <a:ext cx="1947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77440" y="685800"/>
            <a:ext cx="2148840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32304" y="685800"/>
            <a:ext cx="2039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SrTiO₃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685800"/>
            <a:ext cx="2148840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685800"/>
            <a:ext cx="2039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Al₂O₃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66560" y="685800"/>
            <a:ext cx="2057400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21424" y="685800"/>
            <a:ext cx="1947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115568"/>
            <a:ext cx="205740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1152144"/>
            <a:ext cx="1947672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Wettability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377440" y="1115568"/>
            <a:ext cx="214884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32304" y="1152144"/>
            <a:ext cx="2039112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Superhydrophilic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 surface energy)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1115568"/>
            <a:ext cx="214884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152144"/>
            <a:ext cx="2039112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Hydrophobic initially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(WCA ~115°)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66560" y="1115568"/>
            <a:ext cx="205740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21424" y="1152144"/>
            <a:ext cx="1947672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Hydrophilic (bulk)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hydrophobicity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(crystal surfaces)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048256"/>
            <a:ext cx="205740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" y="2084832"/>
            <a:ext cx="1947672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Hydrophobicity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377440" y="2048256"/>
            <a:ext cx="214884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32304" y="2084832"/>
            <a:ext cx="2039112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found — laser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hydrophilicity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synthesis-focused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0" y="2048256"/>
            <a:ext cx="214884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084832"/>
            <a:ext cx="2039112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Extensively reported: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ps, ns, CO₂ lasers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give hydrophobicity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766560" y="2048256"/>
            <a:ext cx="205740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21424" y="2084832"/>
            <a:ext cx="1947672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found on bulk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MgO crystal/substrate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2980944"/>
            <a:ext cx="205740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" y="3017520"/>
            <a:ext cx="1947672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Route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Hydrophobicity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377440" y="2980944"/>
            <a:ext cx="214884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32304" y="3017520"/>
            <a:ext cx="2039112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 SAM on STO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&gt; 110°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(dip-coating)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0" y="2980944"/>
            <a:ext cx="214884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26864" y="3017520"/>
            <a:ext cx="2039112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texture +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silanization →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superhydrophobic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766560" y="2980944"/>
            <a:ext cx="205740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21424" y="3017520"/>
            <a:ext cx="1947672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Nano-MgO in fabric;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hfacH modification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MgO surface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913632"/>
            <a:ext cx="205740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" y="3950208"/>
            <a:ext cx="1947672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 /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Opportunity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377440" y="3913632"/>
            <a:ext cx="214884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32304" y="3950208"/>
            <a:ext cx="2039112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→ hydrophilic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only. Not novel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hydrophobicity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0" y="3913632"/>
            <a:ext cx="214884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26864" y="3950208"/>
            <a:ext cx="2039112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Well-studied.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novel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766560" y="3913632"/>
            <a:ext cx="205740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21424" y="3950208"/>
            <a:ext cx="1947672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hydrophobicity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MgO bulk crystal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reported ★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MgO is the most promising novel target: no laser hydrophobicity work exists, and its crystal surface shows unusual intrinsic molecular hydrophobicity.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Pursue MgO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96112" y="868680"/>
            <a:ext cx="7973568" cy="89611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24128" y="914400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Laser Hydrophobicity Work on MgO Bulk Crystal Found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24128" y="118872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thorough searching, no published paper on laser-induced hydrophobicity on MgO substrate was identified. This is a genuinely novel research direction.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993392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6112" y="1901952"/>
            <a:ext cx="7973568" cy="89611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24128" y="1947672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Molecular Hydrophobicity at Crystal Level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24128" y="2221992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MgO(100) and MgO(111) display non-H-bonded OH vibrations (~3700 cm⁻¹) — unusual molecular hydrophobicity unlike most metal oxides. A strong scientific starting point.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026664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026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6112" y="2935224"/>
            <a:ext cx="7973568" cy="89611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24128" y="2980944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Routes Confirm MgO Surface Energy is Tunable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24128" y="325526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Nano-magnesia fabric modification and hfacH chemical treatment both show MgO surface energy can be altered toward hydrophobicity. No one has used laser texturing to achieve this.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4059936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059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96112" y="3968496"/>
            <a:ext cx="7973568" cy="89611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24128" y="401421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SrTiO₃ and Al₂O₃ Already Explored or Ruled Out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24128" y="4288536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Al₂O₃ has extensive ps/ns/CO₂ laser hydrophobicity literature — not novel. SrTiO₃ laser work gives hydrophilicity. MgO remains unexplored as a laser hydrophobicity target.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1663</Words>
  <Application>Microsoft Office PowerPoint</Application>
  <PresentationFormat>On-screen Show (16:9)</PresentationFormat>
  <Paragraphs>163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Bhargav Naidu Palavalasa</cp:lastModifiedBy>
  <cp:revision>4</cp:revision>
  <dcterms:created xsi:type="dcterms:W3CDTF">2026-03-30T11:02:00Z</dcterms:created>
  <dcterms:modified xsi:type="dcterms:W3CDTF">2026-03-31T06:06:56Z</dcterms:modified>
</cp:coreProperties>
</file>