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3" r:id="rId18"/>
    <p:sldId id="275" r:id="rId19"/>
    <p:sldId id="271" r:id="rId20"/>
    <p:sldId id="27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38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5A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0A5A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Laser-Induced Hydrophobicity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Thin Film Surfaces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of Four Research Studies on Excimer &amp; Nanosecond Laser</a:t>
            </a:r>
            <a:endParaRPr lang="en-US" sz="1500" dirty="0"/>
          </a:p>
          <a:p>
            <a:pPr marL="0" indent="0" algn="l">
              <a:buNone/>
            </a:pPr>
            <a:r>
              <a:rPr lang="en-US" sz="1500" i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Modification Techniques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77917" y="4671881"/>
            <a:ext cx="5352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Cp303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D17A8-0D6E-FBBF-7E8E-D90C99DE53E3}"/>
              </a:ext>
            </a:extLst>
          </p:cNvPr>
          <p:cNvSpPr txBox="1"/>
          <p:nvPr/>
        </p:nvSpPr>
        <p:spPr>
          <a:xfrm>
            <a:off x="604911" y="4382086"/>
            <a:ext cx="1946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Palavalasa Bhargav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Hydrophobicity? — The Lotus Effect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Angle (θ)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angle formed at the liquid–solid–vapour interface. Measured using sessile drop method.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828800"/>
          <a:ext cx="4114800" cy="2072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Angle (θ)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Wetting Behaviour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Superhydrophilic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&lt; 10°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wetting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Hydrophilic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10° &lt; θ &lt; 90°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wetting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Hydrophobic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 &lt; θ &lt; 150°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wettability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Superhydrophobic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&gt; 150°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Lotus effect / self-cleaning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0" y="777240"/>
            <a:ext cx="4297680" cy="2743200"/>
          </a:xfrm>
          <a:prstGeom prst="rect">
            <a:avLst/>
          </a:prstGeom>
          <a:solidFill>
            <a:srgbClr val="B0C4CF"/>
          </a:solidFill>
          <a:ln w="12700">
            <a:solidFill>
              <a:srgbClr val="B0C4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822960"/>
            <a:ext cx="4206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82880" y="4224528"/>
            <a:ext cx="8778240" cy="731520"/>
          </a:xfrm>
          <a:prstGeom prst="rect">
            <a:avLst/>
          </a:prstGeom>
          <a:solidFill>
            <a:srgbClr val="E0EEF5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425196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Wenzel Model: </a:t>
            </a: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fills surface grooves → enhanced wettability.   </a:t>
            </a: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Cassie-Baxter Model: </a:t>
            </a: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trapped in grooves → reduced contact area → superhydrophobicity.</a:t>
            </a: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6B3276-012D-5755-0662-30B559606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280" y="746681"/>
            <a:ext cx="4389120" cy="280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hape 2">
            <a:extLst>
              <a:ext uri="{FF2B5EF4-FFF2-40B4-BE49-F238E27FC236}">
                <a16:creationId xmlns:a16="http://schemas.microsoft.com/office/drawing/2014/main" id="{908C341E-DE2D-ED39-94BA-983420C4EED5}"/>
              </a:ext>
            </a:extLst>
          </p:cNvPr>
          <p:cNvSpPr/>
          <p:nvPr/>
        </p:nvSpPr>
        <p:spPr>
          <a:xfrm>
            <a:off x="4526280" y="3645486"/>
            <a:ext cx="4389120" cy="228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pPr algn="ctr"/>
            <a:r>
              <a:rPr lang="en-IN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Fig1: lotus effect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Hydrophobicity?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2834640" cy="169164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50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Anti-Bacterial Surfaces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Superhydrophobic surfaces entrap air at the liquid–solid interface, preventing direct bacterial contact. This is vital for medical implants, catheters, and surgical tools.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27248" y="777240"/>
            <a:ext cx="2834640" cy="169164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8688" y="850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Anti-Fouling &amp; Self-Cleaning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18688" y="11887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droplets roll off carrying contaminants. Key in marine coatings, solar panels, and optical lenses.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777240"/>
            <a:ext cx="2834640" cy="169164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850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Microfluidics &amp; Lab-on-Chip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11887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control of droplet movement on Si wafers enables miniaturised diagnostic devices and biosensors.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2651760"/>
            <a:ext cx="2834640" cy="169164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7249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Electronics &amp; Semiconductors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" y="306324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 PVDF surfaces enable moisture-resistant piezoelectric sensors and integrated circuits.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27248" y="2651760"/>
            <a:ext cx="2834640" cy="169164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27249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Biomedical Implants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18688" y="306324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wettability reduces protein adsorption and platelet activation on implant surfaces, improving biocompatibility.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651760"/>
            <a:ext cx="2834640" cy="169164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7249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Aerospace &amp; Automotive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06324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De-icing, drag reduction, and corrosion resistance are achievable on metal surfaces via superhydrophobic coatings.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07A82"/>
          </a:solidFill>
          <a:ln w="12700">
            <a:solidFill>
              <a:srgbClr val="007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Sohrabi et al. (2022); Liu et al. (2014); Dongre et al. (2023); Liu et al. (2010)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to Generate Hydrophobicity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731520"/>
            <a:ext cx="4114800" cy="411480"/>
          </a:xfrm>
          <a:prstGeom prst="rect">
            <a:avLst/>
          </a:prstGeom>
          <a:solidFill>
            <a:srgbClr val="00A5A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49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ROUGHNESS METHODS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234440"/>
            <a:ext cx="4114800" cy="594360"/>
          </a:xfrm>
          <a:prstGeom prst="rect">
            <a:avLst/>
          </a:prstGeom>
          <a:solidFill>
            <a:srgbClr val="DAEAF5"/>
          </a:solidFill>
          <a:ln w="12700">
            <a:solidFill>
              <a:srgbClr val="B0C4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Texturing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ns/fs pulsed lasers create micro/nano structures (ablation threshold creates surface topography)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901952"/>
            <a:ext cx="4114800" cy="594360"/>
          </a:xfrm>
          <a:prstGeom prst="rect">
            <a:avLst/>
          </a:prstGeom>
          <a:solidFill>
            <a:srgbClr val="EFF4F7"/>
          </a:solidFill>
          <a:ln w="12700">
            <a:solidFill>
              <a:srgbClr val="B0C4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293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Etching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130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or base solutions roughen metal/polymer surfaces to increase contact angle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2569464"/>
            <a:ext cx="4114800" cy="594360"/>
          </a:xfrm>
          <a:prstGeom prst="rect">
            <a:avLst/>
          </a:prstGeom>
          <a:solidFill>
            <a:srgbClr val="DAEAF5"/>
          </a:solidFill>
          <a:ln w="12700">
            <a:solidFill>
              <a:srgbClr val="B0C4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968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Ion-Beam Lithography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7980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ion beams pattern nanostructures on Si surfaces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3236976"/>
            <a:ext cx="4114800" cy="594360"/>
          </a:xfrm>
          <a:prstGeom prst="rect">
            <a:avLst/>
          </a:prstGeom>
          <a:solidFill>
            <a:srgbClr val="EFF4F7"/>
          </a:solidFill>
          <a:ln w="12700">
            <a:solidFill>
              <a:srgbClr val="B0C4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644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Photolithography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4655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UV-patterned photoresist used to create ordered micro-pillars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3904488"/>
            <a:ext cx="4114800" cy="594360"/>
          </a:xfrm>
          <a:prstGeom prst="rect">
            <a:avLst/>
          </a:prstGeom>
          <a:solidFill>
            <a:srgbClr val="DAEAF5"/>
          </a:solidFill>
          <a:ln w="12700">
            <a:solidFill>
              <a:srgbClr val="B0C4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9319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Immersion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1330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process on copper/metal substrates for non-flaking superhydrophobic surfaces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731520"/>
            <a:ext cx="4297680" cy="411480"/>
          </a:xfrm>
          <a:prstGeom prst="rect">
            <a:avLst/>
          </a:prstGeom>
          <a:solidFill>
            <a:srgbClr val="007A82"/>
          </a:solidFill>
          <a:ln w="12700">
            <a:solidFill>
              <a:srgbClr val="007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7498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CHEMICAL MODIFICATION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234440"/>
            <a:ext cx="4297680" cy="594360"/>
          </a:xfrm>
          <a:prstGeom prst="rect">
            <a:avLst/>
          </a:prstGeom>
          <a:solidFill>
            <a:srgbClr val="D5EFF0"/>
          </a:solidFill>
          <a:ln w="12700">
            <a:solidFill>
              <a:srgbClr val="B0C4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2618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Laser + Methanol (Si)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1463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ArF excimer laser dissociates CH₃OH → –OCH₃ radicals bond to Si surface, reducing surface energy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901952"/>
            <a:ext cx="4297680" cy="594360"/>
          </a:xfrm>
          <a:prstGeom prst="rect">
            <a:avLst/>
          </a:prstGeom>
          <a:solidFill>
            <a:srgbClr val="EFF4F7"/>
          </a:solidFill>
          <a:ln w="12700">
            <a:solidFill>
              <a:srgbClr val="B0C4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92938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KrF Laser on PVDF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2130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Photochemical changes create C–CF₂ and C–F bonds, reducing surface energy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569464"/>
            <a:ext cx="4297680" cy="594360"/>
          </a:xfrm>
          <a:prstGeom prst="rect">
            <a:avLst/>
          </a:prstGeom>
          <a:solidFill>
            <a:srgbClr val="D5EFF0"/>
          </a:solidFill>
          <a:ln w="12700">
            <a:solidFill>
              <a:srgbClr val="B0C4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59689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Coating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27980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surface energy materials (ZnO, fluoropolymers) applied as hydrophobic coating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236976"/>
            <a:ext cx="4297680" cy="594360"/>
          </a:xfrm>
          <a:prstGeom prst="rect">
            <a:avLst/>
          </a:prstGeom>
          <a:solidFill>
            <a:srgbClr val="EFF4F7"/>
          </a:solidFill>
          <a:ln w="12700">
            <a:solidFill>
              <a:srgbClr val="B0C4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2644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Self-Assembled Monolayers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34655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molecules adsorb onto surfaces to form oriented hydrophobic layers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904488"/>
            <a:ext cx="4297680" cy="594360"/>
          </a:xfrm>
          <a:prstGeom prst="rect">
            <a:avLst/>
          </a:prstGeom>
          <a:solidFill>
            <a:srgbClr val="D5EFF0"/>
          </a:solidFill>
          <a:ln w="12700">
            <a:solidFill>
              <a:srgbClr val="B0C4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9319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Treatment + SAMs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41330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creates reactive sites; SAMs then lower surface energy selectively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Measure Hydrophobicity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4297680" cy="128016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" y="8412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Sessile Drop Method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" y="112471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water droplet (~3–5 µL) is placed on the surface. The profile of the drop is captured with a CCD camera. The contact angle θ is measured from the drop profile at the solid–liquid–vapour interface.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" y="17830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All four studies reviewed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97680" cy="128016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8412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Ramé-Hart NRL Goniometer (Model 100)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12471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precision optical goniometer. The sample is placed on a stage, a drop is dispensed via a microsyringe, and the angle is measured optically. Four independent measurements per site for accuracy.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3168" y="17830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Liu et al. (2014) – Si/methanol study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" y="2194560"/>
            <a:ext cx="4297680" cy="128016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" y="2258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OCA20 Contact Angle Meter (DataPhysics)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" y="254203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video-based system. Measures static, advancing, and receding contact angles. Volume of drop is precisely controlled (3 µL).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" y="3200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Liu et al. (2010) – PVDF study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4297680" cy="128016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258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AFM — Atomic Force Microscopy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73168" y="254203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surface roughness (R_RMS). Surface topography is mapped in tapping mode over 5×5 µm regions. Roughness determines if hydrophobicity is morphology-driven.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3200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Liu et al. (2014); Liu et al. (2010)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" y="3611880"/>
            <a:ext cx="4297680" cy="128016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" y="36758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SEM — Scanning Electron Microscopy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" y="395935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imaging of laser-induced micro/nano structures. Reveals surface morphology changes such as ablation craters, conical structures, and wall-like formations.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" y="4617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Sohrabi et al. (2022); Dongre et al. (2023); Liu et al. (2010)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611880"/>
            <a:ext cx="4297680" cy="128016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6758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XPS — X-ray Photoelectron Spectroscopy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73168" y="395935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surface chemical bonds. Confirms formation of Si–OCH₃ (hydrophobic) or C–CF₂/C–F bonds on PVDF after laser irradiation.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4617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Liu et al. (2014); Liu et al. (2010)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5A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Hydrophobicity Generation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Silicon (Si 001)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Excimer Laser-Assisted Chemical Process for Formation of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 Surface of Si (001)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Liu, Hassen &amp; Dubowski (2014)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1 — Si (001): Experimental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4572000" cy="4206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82296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P-doped (n-type) Si (001) wafers; 12×6 mm; resistivity 3.1–4.8 Ω·m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Pre-treatment: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with Opticlear, acetone, IPA (5 min each); HF etch (1:50, 1 min) to remove native oxides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Irradiation Medium: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9202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immersed in degassed methanol (CH₃OH) in a 0.74 mm microfluidic chamber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(Primary):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4688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ArF excimer laser — λ = 193 nm; fluences 30, 65, 80 mJ/cm²; up to 1000 pulses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0175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(Control):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301752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KrF excimer laser — λ = 248 nm; up to 250 mJ/cm² (used for comparison)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5661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Post-treatment: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356616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Rinsed with DI water, dried with N₂, stored in sealed N₂ container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1148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ArF laser (193 nm) photodissociates CH₃OH → –OCH₃ radicals bind to Si dangling bonds → Si–OCH₃ (hydrophobic)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1901952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37760" y="1678276"/>
            <a:ext cx="3931920" cy="1920240"/>
          </a:xfrm>
          <a:prstGeom prst="rect">
            <a:avLst/>
          </a:prstGeom>
          <a:solidFill>
            <a:srgbClr val="10203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78519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Chemical Mechanism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1984248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ArF laser (193 nm) irradiates Si immersed in methanol
2. Photodissociation: CH₃OH → H• + •OCH₃ radicals
3. –OCH₃ radicals bond to Si dangling bonds
4. Si–(OCH₃)ₓ compound forms → lowers surface energy
5. Result: CA increases from 77° → 103°
6. KrF (248 nm) CANNOT photodissociate CH₃OH → no effect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1 — Si (001): Results — Contact Angle &amp; AFM Analysis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0"/>
            <a:ext cx="438912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3977640"/>
            <a:ext cx="4389120" cy="228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3977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– Contact angle vs. pulse number for ArF laser (Liu et al., 2014)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31520"/>
            <a:ext cx="4297680" cy="274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63440" y="3520440"/>
            <a:ext cx="4297680" cy="228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63440" y="35204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3– AFM images: non-irradiated (left) vs. 500-pulse irradiated (right)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663440" y="3840480"/>
            <a:ext cx="4297680" cy="109728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0" y="38587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AFM &amp; Contact Angle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54880" y="413308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 increased: </a:t>
            </a: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77° → 103° at 65 mJ/cm², 800 pulses
</a:t>
            </a:r>
            <a:r>
              <a:rPr lang="en-US" sz="1050" b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AFM roughness: </a:t>
            </a: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 nm (ref) vs. 0.37 nm (irradiated) — NO morphology change
• Hydrophobicity is purely chemical (Si–OCH₃), not structural
• KrF laser showed NO change in CA (cannot break CH₃OH)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82880" y="4251960"/>
            <a:ext cx="4389120" cy="685800"/>
          </a:xfrm>
          <a:prstGeom prst="rect">
            <a:avLst/>
          </a:prstGeom>
          <a:solidFill>
            <a:srgbClr val="1A2B3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42793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at 103°: </a:t>
            </a: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energy limited by CH₃ packing.
</a:t>
            </a:r>
            <a:r>
              <a:rPr lang="en-US" sz="1100" b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 </a:t>
            </a: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stable for 4 h in N₂; drops to 56° after 20 h in air (SiO₂ oxidation).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1 — Si (001): XPS Characterisation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87782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3703320"/>
            <a:ext cx="8778240" cy="228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370332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– XPS Si 2p, O 1s, C 1s spectra: non-irradiated (a–c) vs. ArF laser irradiated 500 pulses at 65 mJ/cm² (d–f) (Liu et al., 2014)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82880" y="4005072"/>
            <a:ext cx="27432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023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2p Peak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4297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Si–(OCH₃)ₓ concentration: 0.7% (ref) → 3.5% (irradiated). 5-fold increase confirms –OCH₃ bonding.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4005072"/>
            <a:ext cx="27432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4023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1s Peak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91840" y="4297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Si–(OCH₃)ₓ peak at 532.6 eV increases from 1% → 2.5%. Confirms oxygen bonding through methoxy groups.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4005072"/>
            <a:ext cx="27432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4023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09360" y="4297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Hydrophobicity of Si is entirely due to chemical modification (Si–OCH₃), not surface roughness change.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Superhydrophobic-Antibacterial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Polycarbonate Fabrication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Excimer Laser Treatment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Sohrabi, Pazokian, Ghafary &amp; Mollabashi (2022)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2 — Polycarbonate: Setup &amp; SEM Surface Morphology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3474720" cy="4206240"/>
          </a:xfrm>
          <a:prstGeom prst="rect">
            <a:avLst/>
          </a:prstGeom>
          <a:solidFill>
            <a:srgbClr val="0D1B4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863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Parameters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25880" y="111556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(Polycarbonate) 1 mm thick, 1×1 cm, cleaned with water &amp; alcohol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25880" y="1645920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KrF pulsed excimer — λ = 248 nm, 25 ns pulse, 2 Hz rep. 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17627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Fluence range: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217627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Below, near &amp; above ablation threshold (20–100 mJ/cm²)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70662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threshold: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2706624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mJ/cm² (single pulse for PC at 248 nm)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23697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25880" y="3236976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pulses per sample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376732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Wettability: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25880" y="376732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Sessile drop method; each condition repeated 5 times; ±2° error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29768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Antibacterial: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25880" y="4297680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coli adhesion test with gram staining (OD₆₀₀ ≈ 0.5)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749808"/>
            <a:ext cx="5120640" cy="33832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840480" y="4160520"/>
            <a:ext cx="5120640" cy="228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0" y="41605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– SEM images at 2000 pulses: (a) 20, (b) 30, (c) 60, (d) 70, (e) 80, (f) 90 mJ/cm² (Sohrabi et al., 2022)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840480" y="4434840"/>
            <a:ext cx="5120640" cy="502920"/>
          </a:xfrm>
          <a:prstGeom prst="rect">
            <a:avLst/>
          </a:prstGeom>
          <a:solidFill>
            <a:srgbClr val="1A2B3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0" y="44531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ablation threshold (&lt;40 mJ/cm²): no microstructures. Above threshold: melting + rapid re-solidification → micro-scale structures → increased roughness → superhydrophobicity at &gt;80 mJ/cm².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2 — Polycarbonate: Wettability &amp; Antibacterial Results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42062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3703320"/>
            <a:ext cx="4206240" cy="228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37033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– Water contact angle vs. laser fluence (2000 pulses) (Sohrabi et al., 2022)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749808"/>
            <a:ext cx="4389120" cy="2926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3703320"/>
            <a:ext cx="4389120" cy="228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0" y="3703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– Gram-stained E. coli: (a) untreated PC, (b) superhydrophobic 80 mJ/cm², (c) hydrophobic 70 mJ/cm²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82880" y="4005072"/>
            <a:ext cx="420624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023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Wettability Results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74320" y="42976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38 mJ/cm²: Hydrophilic (θ ↓ to 51°). 60–70 mJ/cm²: Hydrophobic (θ ~90–120°). &gt; 80 mJ/cm²: Superhydrophobic (θ &gt; 150°). Carbonization + double-scale roughness + air pockets = superhydrophobicity.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0" y="4005072"/>
            <a:ext cx="438912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63440" y="4023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Antibacterial Results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63440" y="42976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Superhydrophobic PC (&gt;80 mJ/cm²): NO E. coli adhesion. Hydrophobic (~70 mJ/cm²): some adhesion. Pristine PC (θ ≈ 91°): highest adhesion. Air pockets block direct bacteria–surface contact.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Hydrophobicity of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Poly(Vinylidene Fluoride) — PVDF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the Hydrophobic Property of PVDF by KrF Excimer Laser Irradiation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Liu, Wei, Jiang &amp; Nie (2010)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3 — PVDF: Setup &amp; Contact Angle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3474720" cy="4206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863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Parameters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80160" y="111556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PVDF film, 0.5 mm thick, irradiated vertically in air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Physik LPX305iF KrF — 248 nm, 30 ns, 50 Hz max, 1 Hz used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1762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Fluence range: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80160" y="217627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– 400 mJ/cm² (E from 50 to 600 mJ/cm²)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7066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 (N):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80160" y="270662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500 shots studied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2369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80160" y="323697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9×9 lens array for uniform spot; 2 biconvex lenses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3767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Meter: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80160" y="376732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OCA20 (DataPhysics); 3 µL drops; 5 measurements/site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297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Characterisation: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80160" y="42976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 (PicoScan 2500), SEM (FEI Quanta 200), XPS (AXIS Ultra)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749808"/>
            <a:ext cx="2743200" cy="30175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840480" y="3794760"/>
            <a:ext cx="2743200" cy="2743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0" y="38039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8 – Static CA vs. laser shots at 5 fluences (Liu et al., 2010)</a:t>
            </a:r>
            <a:endParaRPr lang="en-US" sz="9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749808"/>
            <a:ext cx="2286000" cy="301752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675120" y="3794760"/>
            <a:ext cx="2286000" cy="2743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75120" y="38039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 – AFM (a,b) &amp; SEM (c–e) images of PVDF surfaces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749040" y="4133088"/>
            <a:ext cx="5212080" cy="822960"/>
          </a:xfrm>
          <a:prstGeom prst="rect">
            <a:avLst/>
          </a:prstGeom>
          <a:solidFill>
            <a:srgbClr val="1A2B3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749040" y="41422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749040" y="4370832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CA = 170° at 400 mJ/cm², 20 pulses (from 53°). Superhydrophobicity achieved in seconds (&lt; 1 minute!). At ≥ 300 mJ/cm², surface damage occurs but CA remains &gt; 150°. At lower fluences (100–200 mJ/cm²), ~200 pulses needed — 10× longer process.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3 — PVDF: XPS Analysis &amp; Hydrophobicity Mechanism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877824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3611880"/>
            <a:ext cx="8778240" cy="228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36118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10 – XPS spectra: (a) survey before/after irradiation, (b) C 1s deconvolution after irradiation, (c) F 1s spectra (Liu et al., 2010)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82880" y="3913632"/>
            <a:ext cx="2743200" cy="1024128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931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Irradiation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4206240"/>
            <a:ext cx="2560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PVDF dominated by CH₂ (286.42 eV) and CF₂ (290.84 eV) bonds. C 1s: 46%. F 1s: 44%. Contact angle: 53°.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3913632"/>
            <a:ext cx="3017520" cy="1024128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39319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KrF Irradiation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91840" y="4206240"/>
            <a:ext cx="28346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bonds appear: C–CF₂ (21%), C–F (15%), C–F₂ (12%). F 1s shows C–CF₂ and C–F peaks. These lower surface energy → superhydrophobicity.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92240" y="3913632"/>
            <a:ext cx="2468880" cy="1024128"/>
          </a:xfrm>
          <a:prstGeom prst="rect">
            <a:avLst/>
          </a:prstGeom>
          <a:solidFill>
            <a:srgbClr val="0D1B40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3931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0" y="4206240"/>
            <a:ext cx="2286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KrF laser thermal energy causes photochemical cleavage of C–H and C–F bonds → C–CF₂ and C–F form → regular wall-like 3D structure + reduced surface energy → CA up to 170°.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ExpLabel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4C430"/>
                </a:solidFill>
                <a:latin typeface="Calibri" pitchFamily="34" charset="0"/>
              </a:rPr>
              <a:t>EXPERIMENT 4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</a:rPr>
              <a:t>Superhydrophobic Textures on</a:t>
            </a:r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</a:rPr>
              <a:t>Stainless Steel 316 (SS316)</a:t>
            </a:r>
          </a:p>
        </p:txBody>
      </p:sp>
      <p:sp>
        <p:nvSpPr>
          <p:cNvPr id="6" name="Subtitle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CF"/>
                </a:solidFill>
                <a:latin typeface="Calibri" pitchFamily="34" charset="0"/>
              </a:rPr>
              <a:t>Generation of Super-hydrophobic Textures Using a Nanosecond Pulsed Laser Machine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B0C4CF"/>
                </a:solidFill>
                <a:latin typeface="Calibri" pitchFamily="34" charset="0"/>
              </a:rPr>
              <a:t>— Dongre, Rane, Raut et al. (AIP Conf. Proc. 2023)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g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40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228600" y="60960"/>
            <a:ext cx="868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Exp. 4 — SS316: Experimental Setup &amp; Microscopic Results</a:t>
            </a:r>
          </a:p>
        </p:txBody>
      </p:sp>
      <p:sp>
        <p:nvSpPr>
          <p:cNvPr id="4" name="Params"/>
          <p:cNvSpPr/>
          <p:nvPr/>
        </p:nvSpPr>
        <p:spPr>
          <a:xfrm>
            <a:off x="228600" y="594360"/>
            <a:ext cx="3657600" cy="4366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</a:rPr>
              <a:t>Experimental Parameters</a:t>
            </a:r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</a:rPr>
              <a:t>Material: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</a:rPr>
              <a:t>SS316 plates, 30×30 mm, 1 mm thick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</a:rPr>
              <a:t>Laser: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</a:rPr>
              <a:t>NUQA-1064-NA-0030-YZ, 30W max, 100±20 ns pulse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</a:rPr>
              <a:t>Power: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</a:rPr>
              <a:t>30%, 40%, 50% (= 9W, 12W, 15W)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</a:rPr>
              <a:t>Scan Speed: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</a:rPr>
              <a:t>200, 250, 300 mm/s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</a:rPr>
              <a:t>Frequency: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</a:rPr>
              <a:t>70, 80, 90 kHz (Taguchi DOE)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</a:rPr>
              <a:t>Pattern: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</a:rPr>
              <a:t>10×10 mm square, horizontal hatches, 150 µm spacing, 66 hatches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</a:rPr>
              <a:t>Microscope: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</a:rPr>
              <a:t>Rapid I-vision for hatch width/depth</a:t>
            </a:r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</a:rPr>
              <a:t>Fig. 1 — Nanosecond Pulse LASER machine (NUQA-1064-NA)</a:t>
            </a:r>
          </a:p>
        </p:txBody>
      </p:sp>
      <p:pic>
        <p:nvPicPr>
          <p:cNvPr id="5" name="LaserMach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594360"/>
            <a:ext cx="2400000" cy="1920000"/>
          </a:xfrm>
          <a:prstGeom prst="rect">
            <a:avLst/>
          </a:prstGeom>
        </p:spPr>
      </p:pic>
      <p:pic>
        <p:nvPicPr>
          <p:cNvPr id="6" name="Micro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200" y="594360"/>
            <a:ext cx="2515800" cy="1920000"/>
          </a:xfrm>
          <a:prstGeom prst="rect">
            <a:avLst/>
          </a:prstGeom>
        </p:spPr>
      </p:pic>
      <p:pic>
        <p:nvPicPr>
          <p:cNvPr id="7" name="Micro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600000"/>
            <a:ext cx="5029800" cy="1920000"/>
          </a:xfrm>
          <a:prstGeom prst="rect">
            <a:avLst/>
          </a:prstGeom>
        </p:spPr>
      </p:pic>
      <p:sp>
        <p:nvSpPr>
          <p:cNvPr id="8" name="Caption"/>
          <p:cNvSpPr/>
          <p:nvPr/>
        </p:nvSpPr>
        <p:spPr>
          <a:xfrm>
            <a:off x="3886200" y="4568000"/>
            <a:ext cx="50298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</a:rPr>
              <a:t>Fig. 11 — Rapid I-vision microscopic images of LASER textured SS316 surfaces (Dongre et al., 2023)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g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40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228600" y="60960"/>
            <a:ext cx="868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Exp. 4 — SS316: Results — Width, Depth &amp; Material Removal Rate</a:t>
            </a:r>
          </a:p>
        </p:txBody>
      </p:sp>
      <p:pic>
        <p:nvPicPr>
          <p:cNvPr id="4" name="WidthGrap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2800000" cy="1920000"/>
          </a:xfrm>
          <a:prstGeom prst="rect">
            <a:avLst/>
          </a:prstGeom>
        </p:spPr>
      </p:pic>
      <p:pic>
        <p:nvPicPr>
          <p:cNvPr id="5" name="DepthGrap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000" y="594360"/>
            <a:ext cx="2800000" cy="1920000"/>
          </a:xfrm>
          <a:prstGeom prst="rect">
            <a:avLst/>
          </a:prstGeom>
        </p:spPr>
      </p:pic>
      <p:pic>
        <p:nvPicPr>
          <p:cNvPr id="6" name="MRRGrap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000" y="594360"/>
            <a:ext cx="2800000" cy="1920000"/>
          </a:xfrm>
          <a:prstGeom prst="rect">
            <a:avLst/>
          </a:prstGeom>
        </p:spPr>
      </p:pic>
      <p:sp>
        <p:nvSpPr>
          <p:cNvPr id="7" name="Cap1"/>
          <p:cNvSpPr/>
          <p:nvPr/>
        </p:nvSpPr>
        <p:spPr>
          <a:xfrm>
            <a:off x="182880" y="2540000"/>
            <a:ext cx="28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</a:rPr>
              <a:t>Fig. 12 — Hatch Width vs. Parameters</a:t>
            </a:r>
          </a:p>
        </p:txBody>
      </p:sp>
      <p:sp>
        <p:nvSpPr>
          <p:cNvPr id="8" name="Cap2"/>
          <p:cNvSpPr/>
          <p:nvPr/>
        </p:nvSpPr>
        <p:spPr>
          <a:xfrm>
            <a:off x="3172000" y="2540000"/>
            <a:ext cx="28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</a:rPr>
              <a:t>Fig. 13 — Hatch Depth vs. Parameters</a:t>
            </a:r>
          </a:p>
        </p:txBody>
      </p:sp>
      <p:sp>
        <p:nvSpPr>
          <p:cNvPr id="9" name="Cap3"/>
          <p:cNvSpPr/>
          <p:nvPr/>
        </p:nvSpPr>
        <p:spPr>
          <a:xfrm>
            <a:off x="6162000" y="2540000"/>
            <a:ext cx="28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</a:rPr>
              <a:t>Fig. 14 — MRR vs. Parameters</a:t>
            </a:r>
          </a:p>
        </p:txBody>
      </p:sp>
      <p:sp>
        <p:nvSpPr>
          <p:cNvPr id="10" name="FindingsBg"/>
          <p:cNvSpPr/>
          <p:nvPr/>
        </p:nvSpPr>
        <p:spPr>
          <a:xfrm>
            <a:off x="182880" y="2860000"/>
            <a:ext cx="8778240" cy="228600"/>
          </a:xfrm>
          <a:prstGeom prst="rect">
            <a:avLst/>
          </a:prstGeom>
          <a:solidFill>
            <a:srgbClr val="0D1B40"/>
          </a:solidFill>
          <a:ln>
            <a:noFill/>
          </a:ln>
        </p:spPr>
      </p:sp>
      <p:sp>
        <p:nvSpPr>
          <p:cNvPr id="11" name="FindingsHdr"/>
          <p:cNvSpPr/>
          <p:nvPr/>
        </p:nvSpPr>
        <p:spPr>
          <a:xfrm>
            <a:off x="182880" y="286000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</a:rPr>
              <a:t>Key Findings</a:t>
            </a:r>
          </a:p>
        </p:txBody>
      </p:sp>
      <p:sp>
        <p:nvSpPr>
          <p:cNvPr id="12" name="F1bg"/>
          <p:cNvSpPr/>
          <p:nvPr/>
        </p:nvSpPr>
        <p:spPr>
          <a:xfrm>
            <a:off x="182880" y="3116000"/>
            <a:ext cx="2132880" cy="185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A8"/>
            </a:solidFill>
          </a:ln>
        </p:spPr>
      </p:sp>
      <p:sp>
        <p:nvSpPr>
          <p:cNvPr id="13" name="F1"/>
          <p:cNvSpPr/>
          <p:nvPr/>
        </p:nvSpPr>
        <p:spPr>
          <a:xfrm>
            <a:off x="228600" y="3160000"/>
            <a:ext cx="2040480" cy="1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</a:rPr>
              <a:t>Width Trend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Decreases at 40% power then rises at 50%. Power has the sharpest influence on kerf width.</a:t>
            </a:r>
          </a:p>
        </p:txBody>
      </p:sp>
      <p:sp>
        <p:nvSpPr>
          <p:cNvPr id="14" name="F2bg"/>
          <p:cNvSpPr/>
          <p:nvPr/>
        </p:nvSpPr>
        <p:spPr>
          <a:xfrm>
            <a:off x="2360880" y="3116000"/>
            <a:ext cx="2132880" cy="185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A8"/>
            </a:solidFill>
          </a:ln>
        </p:spPr>
      </p:sp>
      <p:sp>
        <p:nvSpPr>
          <p:cNvPr id="15" name="F2"/>
          <p:cNvSpPr/>
          <p:nvPr/>
        </p:nvSpPr>
        <p:spPr>
          <a:xfrm>
            <a:off x="2406600" y="3160000"/>
            <a:ext cx="2040480" cy="1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</a:rPr>
              <a:t>Depth Trend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Increases with power; decreases with scan speed. Frequency stabilizes at 80–90 kHz.</a:t>
            </a:r>
          </a:p>
        </p:txBody>
      </p:sp>
      <p:sp>
        <p:nvSpPr>
          <p:cNvPr id="16" name="F3bg"/>
          <p:cNvSpPr/>
          <p:nvPr/>
        </p:nvSpPr>
        <p:spPr>
          <a:xfrm>
            <a:off x="4538880" y="3116000"/>
            <a:ext cx="2132880" cy="185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A8"/>
            </a:solidFill>
          </a:ln>
        </p:spPr>
      </p:sp>
      <p:sp>
        <p:nvSpPr>
          <p:cNvPr id="17" name="F3"/>
          <p:cNvSpPr/>
          <p:nvPr/>
        </p:nvSpPr>
        <p:spPr>
          <a:xfrm>
            <a:off x="4584600" y="3160000"/>
            <a:ext cx="2040480" cy="1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</a:rPr>
              <a:t>MRR Trend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Dip then rise with all three parameters. Units: mm³/s. Max at 50% power, 200 mm/s.</a:t>
            </a:r>
          </a:p>
        </p:txBody>
      </p:sp>
      <p:sp>
        <p:nvSpPr>
          <p:cNvPr id="18" name="F4bg"/>
          <p:cNvSpPr/>
          <p:nvPr/>
        </p:nvSpPr>
        <p:spPr>
          <a:xfrm>
            <a:off x="6716880" y="3116000"/>
            <a:ext cx="2244240" cy="185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F4C430"/>
            </a:solidFill>
          </a:ln>
        </p:spPr>
      </p:sp>
      <p:sp>
        <p:nvSpPr>
          <p:cNvPr id="19" name="F4"/>
          <p:cNvSpPr/>
          <p:nvPr/>
        </p:nvSpPr>
        <p:spPr>
          <a:xfrm>
            <a:off x="6762600" y="3160000"/>
            <a:ext cx="2152080" cy="1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</a:rPr>
              <a:t>Optimal Params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9–12W, 70–80 kHz, 250–300 mm/s → CA &gt; 150° (lit. ref.)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Summary of All Three Experiments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277223"/>
              </p:ext>
            </p:extLst>
          </p:nvPr>
        </p:nvGraphicFramePr>
        <p:xfrm>
          <a:off x="594360" y="754028"/>
          <a:ext cx="7955280" cy="395020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 1 — Si (001)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 2 — Polycarbonate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 3 — PVDF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ArF (193 nm)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KrF for 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KrF (248 nm)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ns pulses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KrF (248 nm)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ns pulses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Material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(001) wafer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(n-type, P-doped)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Polycarbonate film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mm thick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PVDF film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mm thick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Irradiation 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Methanol 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(CH₃OH)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Fluence / Pulses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mJ/cm², 800 pulses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20–100 mJ/cm²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pulses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100–400 mJ/cm²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20–500 pulses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CA Achieved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103° (hydrophobic)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150° (superhydrophobic)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&gt; 80 mJ/cm²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170° (superhydrophobic)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400 mJ/cm², 20 pulses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Chemical: Si–OCH₃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 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Physical: micro/nano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structures + carbonization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Both: C–CF₂/C–F bonds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wall-like structures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AFM, XPS, 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SEM, CA, E.coli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AFM, SEM, XPS, 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Microfluidics, lab-on-chip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implants,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antibacterial surfaces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Electronics, piezo-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 devices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A5A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502920" cy="457200"/>
          </a:xfrm>
          <a:prstGeom prst="rect">
            <a:avLst/>
          </a:prstGeom>
          <a:solidFill>
            <a:srgbClr val="00A5A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777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777240"/>
            <a:ext cx="3749040" cy="1234440"/>
          </a:xfrm>
          <a:prstGeom prst="rect">
            <a:avLst/>
          </a:prstGeom>
          <a:solidFill>
            <a:srgbClr val="1A2B3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82296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Excimer laser (ArF/KrF) irradiation is a powerful single-step technique to generate hydrophobicity on diverse materials — Si, PC, and PVDF.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2167128"/>
            <a:ext cx="502920" cy="457200"/>
          </a:xfrm>
          <a:prstGeom prst="rect">
            <a:avLst/>
          </a:prstGeom>
          <a:solidFill>
            <a:srgbClr val="00A5A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2167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167128"/>
            <a:ext cx="3749040" cy="1234440"/>
          </a:xfrm>
          <a:prstGeom prst="rect">
            <a:avLst/>
          </a:prstGeom>
          <a:solidFill>
            <a:srgbClr val="1A2B3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12848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mechanisms operate: chemical modification (Si–OCH₃ on Si; C–CF₂/C–F on PVDF) and physical structuring (ablation-induced micro/nano topography on PC).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" y="3557016"/>
            <a:ext cx="502920" cy="457200"/>
          </a:xfrm>
          <a:prstGeom prst="rect">
            <a:avLst/>
          </a:prstGeom>
          <a:solidFill>
            <a:srgbClr val="00A5A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35570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557016"/>
            <a:ext cx="3749040" cy="1234440"/>
          </a:xfrm>
          <a:prstGeom prst="rect">
            <a:avLst/>
          </a:prstGeom>
          <a:solidFill>
            <a:srgbClr val="1A2B3D"/>
          </a:solidFill>
          <a:ln w="12700">
            <a:solidFill>
              <a:srgbClr val="00A5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02736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Superhydrophobicity (θ &gt; 150°) is achievable on polycarbonate and PVDF via appropriate laser fluence, enabling self-cleaning and antibacterial functionality.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777240"/>
            <a:ext cx="502920" cy="4572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777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12080" y="777240"/>
            <a:ext cx="3749040" cy="1234440"/>
          </a:xfrm>
          <a:prstGeom prst="rect">
            <a:avLst/>
          </a:prstGeom>
          <a:solidFill>
            <a:srgbClr val="1A2B3D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82296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Si, hydrophobicity (θ = 103°) is purely chemical with no detectable surface morphology change — confirmed by AFM (R_RMS unchanged at ~0.37 nm).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167128"/>
            <a:ext cx="502920" cy="4572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167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12080" y="2167128"/>
            <a:ext cx="3749040" cy="1234440"/>
          </a:xfrm>
          <a:prstGeom prst="rect">
            <a:avLst/>
          </a:prstGeom>
          <a:solidFill>
            <a:srgbClr val="1A2B3D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2212848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parameters (fluence, pulse number, wavelength) are critical: KrF cannot photodissociate methanol; above-threshold fluence creates micro-structures; below-threshold causes hydrophilicity on PC.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557016"/>
            <a:ext cx="502920" cy="4572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5570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12080" y="3557016"/>
            <a:ext cx="3749040" cy="1234440"/>
          </a:xfrm>
          <a:prstGeom prst="rect">
            <a:avLst/>
          </a:prstGeom>
          <a:solidFill>
            <a:srgbClr val="1A2B3D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3602736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have broad applications in biomedical implants, microfluidics, antibacterial surfaces, and semiconductor fabrication.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2878</Words>
  <Application>Microsoft Office PowerPoint</Application>
  <PresentationFormat>On-screen Show (16:9)</PresentationFormat>
  <Paragraphs>296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Laser-Induced Hydrophobicity on Thin Films</dc:title>
  <dc:subject>PptxGenJS Presentation</dc:subject>
  <dc:creator>PptxGenJS</dc:creator>
  <cp:lastModifiedBy>Bhargav Naidu Palavalasa</cp:lastModifiedBy>
  <cp:revision>4</cp:revision>
  <dcterms:created xsi:type="dcterms:W3CDTF">2026-03-08T20:25:56Z</dcterms:created>
  <dcterms:modified xsi:type="dcterms:W3CDTF">2026-03-09T07:49:32Z</dcterms:modified>
</cp:coreProperties>
</file>